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91" r:id="rId2"/>
    <p:sldId id="281" r:id="rId3"/>
    <p:sldId id="290" r:id="rId4"/>
    <p:sldId id="293" r:id="rId5"/>
    <p:sldId id="294" r:id="rId6"/>
    <p:sldId id="296" r:id="rId7"/>
    <p:sldId id="298" r:id="rId8"/>
    <p:sldId id="299" r:id="rId9"/>
    <p:sldId id="300" r:id="rId10"/>
    <p:sldId id="301" r:id="rId11"/>
    <p:sldId id="302" r:id="rId12"/>
    <p:sldId id="303" r:id="rId13"/>
    <p:sldId id="305" r:id="rId14"/>
    <p:sldId id="306" r:id="rId15"/>
    <p:sldId id="304" r:id="rId16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1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5B48A-B74E-771C-0C7E-FD137BD6F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82CE832D-6C33-B204-9172-0C3DA5EBB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7223354F-C7BE-8BA0-2934-9337098333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855C56B-5529-AF4F-092D-292BA0F7F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157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90290-903B-2523-06E2-431D42B0D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E11E5A29-B0BD-3408-4CB9-544CB114F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D03DE5ED-CF22-76D1-3E3F-0C76604362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FF9FB33E-3C66-6D69-E309-85BEA4D5F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4833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9071-8DCD-4E8F-230B-F937FE103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BBB57E49-A40B-E5A5-2FA1-9D7CF0977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F356B810-77BB-7067-236E-DB05403209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FC3CE703-F508-C394-F9A6-5FE56BCB8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696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36411-6934-17A9-E3BF-59A95AC6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98D7695C-97BE-6579-25FA-9A933CAD2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7ED3507-3387-0D9A-23DA-790C2FB73C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01D08409-FA90-D630-DBC5-4C18B4A3E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666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23A0C-27E5-62CD-BCFD-0D3B862AF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DE763998-2FB4-AF85-73BF-C6A896F03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15EAE1D6-B578-0051-4F8A-1D76D48C1F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1CB7F885-7813-547C-FF3A-F13C1B868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408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0A305-2EF4-0874-C791-0E1CA4D8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FD4E789-CCD2-D447-65BD-0CF4FE40E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34B00DDB-ACE0-0E73-583E-6849A4FA0D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8382E7C6-BE52-2836-0688-B0BCC3F34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50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B2873-BFAD-0E71-5495-C5884B1B9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CBDB0D8E-B6A6-41C0-3422-C7FD64EAA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1F678183-79CD-59DA-F89A-42545B038E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127392D7-B632-5DED-13D5-981556878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9976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2083A-7E71-F142-E894-A79762277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FE4FE52-8D57-A936-E403-B2BED0CDC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C0197362-7FF2-2FB6-8591-A98B157C05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2654F00-2D0A-7380-A4CE-2573FE7B3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877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FA79B-338E-793B-D788-8F0F60172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737ABC6D-DFA1-C307-BC6C-E640A5FB8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056ADE44-C70B-D8BF-3625-333FBEC61B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9766880-6B96-25B8-1E80-052719201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286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mjay.gov.i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8043" y="61198"/>
            <a:ext cx="10363200" cy="2076450"/>
          </a:xfrm>
        </p:spPr>
        <p:txBody>
          <a:bodyPr/>
          <a:lstStyle/>
          <a:p>
            <a:r>
              <a:rPr lang="en-IN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NIRMAN LAB-SEC2-73 (SH26)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103367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Title:</a:t>
            </a:r>
          </a:p>
          <a:p>
            <a:pPr algn="just"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39E232-B5F4-27C2-B968-F3A55412F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564" y="697901"/>
            <a:ext cx="2162472" cy="80304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D7C645D-8A98-85E5-75AB-7577D2DEAD30}"/>
              </a:ext>
            </a:extLst>
          </p:cNvPr>
          <p:cNvSpPr/>
          <p:nvPr/>
        </p:nvSpPr>
        <p:spPr>
          <a:xfrm>
            <a:off x="1325880" y="4489704"/>
            <a:ext cx="8686800" cy="129844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309335-DFC9-F362-9E5B-14A860BC0BCE}"/>
              </a:ext>
            </a:extLst>
          </p:cNvPr>
          <p:cNvSpPr txBox="1"/>
          <p:nvPr/>
        </p:nvSpPr>
        <p:spPr>
          <a:xfrm>
            <a:off x="1417320" y="4489704"/>
            <a:ext cx="84742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Millions of eligible PM-JAY beneficiaries in aspirational districts remain unaware of their entitlements or are unable to navigate a claims system that was not designed for low-literacy, low connectivity populations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PM-JAY </a:t>
            </a:r>
            <a:r>
              <a:rPr lang="en-US" sz="3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AwaajSahayak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1395246"/>
            <a:ext cx="6400799" cy="3939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• </a:t>
            </a:r>
            <a:r>
              <a:rPr lang="en-US" dirty="0">
                <a:solidFill>
                  <a:srgbClr val="1F1F1F"/>
                </a:solidFill>
              </a:rPr>
              <a:t>Voice-based IVR system requiring only a missed call (no data/ literacy needed)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Automated callback with eligibility status, claim instructions in local languages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Works on basic feature phones with minimal/zero connectivity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Reduces barriers: no reading, no typing, no app download required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Proven model: successfully used for banking, utilities across India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Scalable to handle thousands of beneficiaries simultaneously</a:t>
            </a:r>
            <a:endParaRPr lang="en-US" dirty="0"/>
          </a:p>
          <a:p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460057-FC48-D934-DAED-9B0A6E9BD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95245"/>
            <a:ext cx="5431537" cy="45463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F472FE3-171E-19D1-D7EF-AD41A5E62F7D}"/>
              </a:ext>
            </a:extLst>
          </p:cNvPr>
          <p:cNvSpPr/>
          <p:nvPr/>
        </p:nvSpPr>
        <p:spPr>
          <a:xfrm>
            <a:off x="6300216" y="4965192"/>
            <a:ext cx="5751576" cy="11521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18160" y="1359451"/>
            <a:ext cx="9385300" cy="5570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D7A"/>
                </a:solidFill>
              </a:rPr>
              <a:t>Technologies to be Used:</a:t>
            </a:r>
          </a:p>
          <a:p>
            <a:pPr marL="0" indent="0">
              <a:buNone/>
            </a:pPr>
            <a:endParaRPr lang="en-US" sz="2800" b="1" dirty="0">
              <a:solidFill>
                <a:srgbClr val="003D7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Telecom API (</a:t>
            </a:r>
            <a:r>
              <a:rPr lang="en-US" dirty="0" err="1">
                <a:solidFill>
                  <a:srgbClr val="1F1F1F"/>
                </a:solidFill>
              </a:rPr>
              <a:t>Twillio</a:t>
            </a:r>
            <a:r>
              <a:rPr lang="en-US" dirty="0">
                <a:solidFill>
                  <a:srgbClr val="1F1F1F"/>
                </a:solidFill>
              </a:rPr>
              <a:t>/</a:t>
            </a:r>
            <a:r>
              <a:rPr lang="en-US" dirty="0" err="1">
                <a:solidFill>
                  <a:srgbClr val="1F1F1F"/>
                </a:solidFill>
              </a:rPr>
              <a:t>Netcore</a:t>
            </a:r>
            <a:r>
              <a:rPr lang="en-US" dirty="0">
                <a:solidFill>
                  <a:srgbClr val="1F1F1F"/>
                </a:solidFill>
              </a:rPr>
              <a:t>) for IVR and callback automation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Node.js/Python backend for call routing and data processing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PostgreSQL for beneficiary database &amp; eligibility records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Cloud infrastructure (AWS/Azure) for scalability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Multi-language NLP for local language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F1F1F"/>
              </a:solidFill>
            </a:endParaRPr>
          </a:p>
          <a:p>
            <a:r>
              <a:rPr lang="en-US" sz="2800" b="1" dirty="0">
                <a:solidFill>
                  <a:srgbClr val="003D7A"/>
                </a:solidFill>
              </a:rPr>
              <a:t>Implementation Methodology:</a:t>
            </a:r>
          </a:p>
          <a:p>
            <a:endParaRPr lang="en-US" sz="2800" b="1" dirty="0">
              <a:solidFill>
                <a:srgbClr val="003D7A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Phase 1: IVR system setup with local language prompts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Phase 2: Integration with PM-JAY eligibility database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Phase 3: Pilot testing in 2-3 aspirational districts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Phase 4: Full rollout with continuous monitoring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23443"/>
            <a:ext cx="9385300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D7A"/>
                </a:solidFill>
              </a:rPr>
              <a:t>Feasibility Analysis:</a:t>
            </a:r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Telecom infrastructure already exists across rural India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Technology stack is well-established and cost-effective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Can be deployed in 3-4 months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Low maintenance requirements post-deployment</a:t>
            </a:r>
          </a:p>
          <a:p>
            <a:pPr marL="0" indent="0">
              <a:buNone/>
            </a:pPr>
            <a:endParaRPr lang="en-US" dirty="0">
              <a:solidFill>
                <a:srgbClr val="1F1F1F"/>
              </a:solidFill>
            </a:endParaRPr>
          </a:p>
          <a:p>
            <a:r>
              <a:rPr lang="en-US" sz="2800" b="1" dirty="0">
                <a:solidFill>
                  <a:srgbClr val="003D7A"/>
                </a:solidFill>
              </a:rPr>
              <a:t>Potential Challenges &amp; Mitigation:</a:t>
            </a:r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Challenge: Language accuracy → Solution: Native speaker testing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Challenge: Database integration → Solution: API standardization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Challenge: User awareness → Solution: Ground-level community campaigns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Challenge: Backend load → Solution: Cloud auto-scaling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95387"/>
            <a:ext cx="9385300" cy="2616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D7A"/>
                </a:solidFill>
              </a:rPr>
              <a:t>Impact on Target Audience:</a:t>
            </a:r>
          </a:p>
          <a:p>
            <a:pPr marL="0" indent="0">
              <a:buNone/>
            </a:pPr>
            <a:endParaRPr lang="en-US" sz="2800" b="1" dirty="0">
              <a:solidFill>
                <a:srgbClr val="003D7A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Reaches millions of low-literacy, low-connectivity beneficiaries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Enables 24/7 access to PM-JAY information without intermediaries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Reduces time to claim information from weeks to minutes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Increases claim acceptance rates and beneficiary satisfaction</a:t>
            </a:r>
          </a:p>
          <a:p>
            <a:pPr marL="0" indent="0">
              <a:buNone/>
            </a:pPr>
            <a:endParaRPr lang="en-US" dirty="0">
              <a:solidFill>
                <a:srgbClr val="1F1F1F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FF1334-2E0B-A279-FFED-3AB00D286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92" y="3994213"/>
            <a:ext cx="102870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935727"/>
            <a:ext cx="93853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PM-JAY Official Portal: </a:t>
            </a:r>
            <a:r>
              <a:rPr lang="en-US" dirty="0">
                <a:solidFill>
                  <a:srgbClr val="1F1F1F"/>
                </a:solidFill>
                <a:hlinkClick r:id="rId3"/>
              </a:rPr>
              <a:t>https://pmjay.gov.in</a:t>
            </a:r>
            <a:endParaRPr lang="en-US" dirty="0">
              <a:solidFill>
                <a:srgbClr val="1F1F1F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NITI Aayog Report on Digital Healthcare in Aspirational Districts (2024)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IVR Technology Case Study: IRCTC e-ticketing system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WHO Report on Digital Health Solutions for Low-Literacy Populations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McKinsey Report: Digital Healthcare in Emerging Markets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</a:rPr>
              <a:t>• Government of India: Ministry of Health &amp; Family Welfare Guidelines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D98A1-C57E-A94C-D82B-AF81325C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47D2274-BF78-BA57-774C-36FF6CF04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00ABF16D-36AA-9671-9724-690E36FA5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043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FINDINGS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AFA57F6D-62F8-8BD6-ED81-1CB4AC8E7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668964"/>
            <a:ext cx="93853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Only 4 of 10 respondents had heard of PM-JAY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Only 2 of 10 knew their family was eligible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Only 1 of 10 had used the PM-JAY claims process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7 of 10 would be willing to use a voice-based tool to file claims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Average rating for ease of understanding hospital forms: 3.1 out of 5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Main challenge: awareness and eligibility knowledge, not willingness to adopt new tools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0192A-1643-C29B-1BA7-88EC71FD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F8D02-6733-51FC-606A-A87C95B66FD5}"/>
              </a:ext>
            </a:extLst>
          </p:cNvPr>
          <p:cNvSpPr/>
          <p:nvPr/>
        </p:nvSpPr>
        <p:spPr>
          <a:xfrm>
            <a:off x="128016" y="887541"/>
            <a:ext cx="11841076" cy="2541458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Forms response chart. Question title: Have you ever heard about the Ayushman Bharat PM-JAY health scheme?. Number of responses: 10 responses.">
            <a:extLst>
              <a:ext uri="{FF2B5EF4-FFF2-40B4-BE49-F238E27FC236}">
                <a16:creationId xmlns:a16="http://schemas.microsoft.com/office/drawing/2014/main" id="{4D98B831-2E2E-8619-CDE8-502E6C7E6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299" y="1031880"/>
            <a:ext cx="5697048" cy="2397119"/>
          </a:xfrm>
          <a:prstGeom prst="rect">
            <a:avLst/>
          </a:prstGeom>
        </p:spPr>
      </p:pic>
      <p:pic>
        <p:nvPicPr>
          <p:cNvPr id="4" name="Picture 3" descr="Forms response chart. Question title: Where do you usually get health-related information or advice?. Number of responses: 10 responses.">
            <a:extLst>
              <a:ext uri="{FF2B5EF4-FFF2-40B4-BE49-F238E27FC236}">
                <a16:creationId xmlns:a16="http://schemas.microsoft.com/office/drawing/2014/main" id="{19B68162-BB92-4517-E886-F9AB25CB7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08" y="1031881"/>
            <a:ext cx="5697050" cy="239711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45B5E1-9C4A-A6B2-9D7D-B0F40DB8EB68}"/>
              </a:ext>
            </a:extLst>
          </p:cNvPr>
          <p:cNvCxnSpPr>
            <a:cxnSpLocks/>
          </p:cNvCxnSpPr>
          <p:nvPr/>
        </p:nvCxnSpPr>
        <p:spPr>
          <a:xfrm>
            <a:off x="5821299" y="887541"/>
            <a:ext cx="0" cy="25414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119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52796-225D-7A6B-62FC-1FC4E67D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859F81-7DE6-F3E0-538F-F0A5B99BC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DE7E450E-1253-54F9-39F6-5483E15C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Problem Context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C46B4667-AE1B-BFBC-45AF-8F2FECA5A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35727"/>
            <a:ext cx="93853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PM-JAY (Ayushman Bharat) provides free hospital coverage of up to ₹5 lakh per family per year to eligible households in economically backward sections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Eligible families are concentrated in aspirational districts where awareness and digital access are lowest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Coverage exists on paper, but millions of families never use it because they don't know they're eligible or don't understand how to access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The scheme has enrolled over 50 million families nationally, yet claim utilization remains low in rural areas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B9CC3-1925-3209-ED64-DD5B0BEF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4064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704DC-7B67-DB91-7D2B-984E8051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58A988-0B75-F0CD-8663-E2C28354E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CB29C33B-E492-B756-709B-645D05634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Barriers to Access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98D386E6-E437-BC48-EA9E-59375AE41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35727"/>
            <a:ext cx="93853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</a:rPr>
              <a:t>Low literacy</a:t>
            </a:r>
            <a:r>
              <a:rPr lang="en-US" dirty="0">
                <a:solidFill>
                  <a:srgbClr val="1F1F1F"/>
                </a:solidFill>
              </a:rPr>
              <a:t>: forms and portals are hard to use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</a:rPr>
              <a:t>Low connectivity</a:t>
            </a:r>
            <a:r>
              <a:rPr lang="en-US" dirty="0">
                <a:solidFill>
                  <a:srgbClr val="1F1F1F"/>
                </a:solidFill>
              </a:rPr>
              <a:t>: no smartphone or reliable internet in many areas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</a:rPr>
              <a:t>Limited awareness</a:t>
            </a:r>
            <a:r>
              <a:rPr lang="en-US" dirty="0">
                <a:solidFill>
                  <a:srgbClr val="1F1F1F"/>
                </a:solidFill>
              </a:rPr>
              <a:t>: many don't know they are eligible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</a:rPr>
              <a:t>Complex claims</a:t>
            </a:r>
            <a:r>
              <a:rPr lang="en-US" dirty="0">
                <a:solidFill>
                  <a:srgbClr val="1F1F1F"/>
                </a:solidFill>
              </a:rPr>
              <a:t>: unclear steps and documents discourage people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Dependency on intermediaries</a:t>
            </a:r>
            <a:r>
              <a:rPr lang="en-US" dirty="0"/>
              <a:t>: People often rely on ASHA workers, agents, or hospital staff, creating delays and potential for misinformation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80A3E-DF7E-7B40-3CCD-6B3840BA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5033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C4481-816C-4BE7-1882-3792C9D4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EA1C4A-404A-BF0B-77C0-E9B7A8A15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D91FA618-947A-05EB-304B-DA1F9A6A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Target Users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B0DD24E6-79E1-BC19-D993-77CA8DABE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35727"/>
            <a:ext cx="93853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</a:rPr>
              <a:t>Primary users</a:t>
            </a:r>
            <a:r>
              <a:rPr lang="en-US" dirty="0">
                <a:solidFill>
                  <a:srgbClr val="1F1F1F"/>
                </a:solidFill>
              </a:rPr>
              <a:t>: PM-JAY-eligible families in aspirational districts (low literacy, low connectivity)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</a:rPr>
              <a:t>Secondary users</a:t>
            </a:r>
            <a:r>
              <a:rPr lang="en-US" dirty="0">
                <a:solidFill>
                  <a:srgbClr val="1F1F1F"/>
                </a:solidFill>
              </a:rPr>
              <a:t>: ASHA workers and community health volunteers who can help spread awareness and guide families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</a:rPr>
              <a:t>Geographic focus</a:t>
            </a:r>
            <a:r>
              <a:rPr lang="en-US" dirty="0">
                <a:solidFill>
                  <a:srgbClr val="1F1F1F"/>
                </a:solidFill>
              </a:rPr>
              <a:t>: Districts identified as aspirational by NITI Aayog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</a:rPr>
              <a:t>Technology requirement</a:t>
            </a:r>
            <a:r>
              <a:rPr lang="en-US" dirty="0">
                <a:solidFill>
                  <a:srgbClr val="1F1F1F"/>
                </a:solidFill>
              </a:rPr>
              <a:t>: Only a basic feature phone needed; no smartphone, app, or internet required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D999C-4189-5330-5BA3-48270EE4F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6722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8722-D3C2-E039-B893-2A3B762FA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C593535-D767-1625-FA4D-12ECAFC2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F2E6CBBA-9542-0FDD-B9FB-D7FF9F02C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How It Works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73ED95C2-AFFC-46FB-B972-B84EC18FC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35727"/>
            <a:ext cx="93853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</a:rPr>
              <a:t>Step 1</a:t>
            </a:r>
            <a:r>
              <a:rPr lang="en-US" dirty="0">
                <a:solidFill>
                  <a:srgbClr val="1F1F1F"/>
                </a:solidFill>
              </a:rPr>
              <a:t>: Beneficiary dials a toll-free number and lets it ring once (missed call) - no cost, no data needed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</a:rPr>
              <a:t>Step 2</a:t>
            </a:r>
            <a:r>
              <a:rPr lang="en-US" dirty="0">
                <a:solidFill>
                  <a:srgbClr val="1F1F1F"/>
                </a:solidFill>
              </a:rPr>
              <a:t>: System recognizes the phone number and checks the PM-JAY eligibility database in real-time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</a:rPr>
              <a:t>Step 3</a:t>
            </a:r>
            <a:r>
              <a:rPr lang="en-US" dirty="0">
                <a:solidFill>
                  <a:srgbClr val="1F1F1F"/>
                </a:solidFill>
              </a:rPr>
              <a:t>: Within seconds, the system calls the beneficiary back automatically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</a:rPr>
              <a:t>Step 4</a:t>
            </a:r>
            <a:r>
              <a:rPr lang="en-US" dirty="0">
                <a:solidFill>
                  <a:srgbClr val="1F1F1F"/>
                </a:solidFill>
              </a:rPr>
              <a:t>: A recorded voice message in the local language provides: eligibility status, remaining coverage amount, required documents, and claim process steps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</a:rPr>
              <a:t>Step 5</a:t>
            </a:r>
            <a:r>
              <a:rPr lang="en-US" dirty="0">
                <a:solidFill>
                  <a:srgbClr val="1F1F1F"/>
                </a:solidFill>
              </a:rPr>
              <a:t>: For complex queries, the caller can be transferred to a human helpline operator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605E7-469A-32D1-0BE3-07873653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7650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9D73-31F2-0765-503E-7D6069249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E2D77A-FF15-0DD5-07DD-64948652A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67EBCCD8-5657-4094-55F1-2ACA139B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Current vs Proposed Process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AC93AF9F-500D-009D-F867-8CBF26143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92364"/>
            <a:ext cx="9385300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lang="en-US" sz="2800" b="1" dirty="0">
                <a:solidFill>
                  <a:schemeClr val="tx2"/>
                </a:solidFill>
              </a:rPr>
              <a:t>:-</a:t>
            </a:r>
            <a:r>
              <a:rPr lang="en-US" sz="2800" b="1" dirty="0">
                <a:solidFill>
                  <a:srgbClr val="1F1F1F"/>
                </a:solidFill>
              </a:rPr>
              <a:t> 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Beneficiary visits hospital or CSC center during office hours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Staff explains process verbally (often unclear)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If documents are missing, beneficiary must travel again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Process takes days or weeks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Information only available in English or Hindi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1F1F1F"/>
              </a:solidFill>
            </a:endParaRPr>
          </a:p>
          <a:p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Process:- 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 Beneficiary makes one missed call from home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Receives callback within minutes with complete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Information in their local language- Available 24/7, no travel needed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Zero data cost, works on any phone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2D65B-6E9B-2FD4-A5C3-BC62B8A2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4748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D2C22-645D-FB26-CDFE-3D6317159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714264-DDFE-D13C-DC71-177A8BA0C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1CA9F3A9-0489-417A-6950-F7F32FFC6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Prototype &amp; Demo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6125EF1-3CED-0505-5447-4AB143EB4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35727"/>
            <a:ext cx="93853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A working 3-page website has been built to demonstrate the </a:t>
            </a:r>
            <a:r>
              <a:rPr lang="en-US" dirty="0" err="1">
                <a:solidFill>
                  <a:srgbClr val="1F1F1F"/>
                </a:solidFill>
              </a:rPr>
              <a:t>AwaazSahayak</a:t>
            </a:r>
            <a:r>
              <a:rPr lang="en-US" dirty="0">
                <a:solidFill>
                  <a:srgbClr val="1F1F1F"/>
                </a:solidFill>
              </a:rPr>
              <a:t> system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The website features a virtual phone that simulates the missed call callback experience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Users can interact with the demo to see how beneficiaries receive information in their local language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The demo is fully functional and cost-free to access</a:t>
            </a:r>
          </a:p>
          <a:p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Shows the real user journey: missed call -&gt; system response -&gt; eligibility information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02D8C-5F40-1151-C800-6849F7A2D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010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F4C3-C5CE-B04F-6F8A-AA2FAE00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D20A288-B822-AA92-F5FB-F65661A46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C2381F1F-5834-D643-FBC2-FC67A61CC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Why Voice-Based Approach Works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28FCCF0A-0533-D7C2-0C6D-B27751EC7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35727"/>
            <a:ext cx="93853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Voice is the most accessible technology for low-literacy populations - no reading required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Missed calls are already familiar behavior across rural India - used for bank alerts, mobile recharges, utility payments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No app installation barrier - works on any phone, including basic feature phones from 10+ years ago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Zero data cost - missed call charges are minimal or free on most plans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Multi-language support is straightforward with voice recordings - can be updated quickly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Higher adoption rate compared to apps or websites in low-connectivity areas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Proven success in similar use cases: IRCTC railway booking, bank balance checks, government schemes across India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8F892-615C-6F9A-3160-B7BE595E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773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2F415-05C4-D3E7-2899-B3423D2A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04603C-56C2-1C6A-5936-3026BD984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D9156671-1EBB-BA96-819D-C672C0D07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BC7B3A2C-6DF8-FC73-6386-235EAED5C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35727"/>
            <a:ext cx="93853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A simple, low-cost voice-based system can bridge the gap between millions of eligible families and the healthcare benefits they deserve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The solution requires no new infrastructure - it works on phones people already have and networks that already exist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Missed call technology is proven, trusted, and widely used across India for banking and utilities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Early survey results show 70% willingness to adopt such a tool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1815C-8149-0CA8-C5FD-B30BF72D7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8052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7865</TotalTime>
  <Words>1154</Words>
  <Application>Microsoft Office PowerPoint</Application>
  <PresentationFormat>Widescreen</PresentationFormat>
  <Paragraphs>172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ＭＳ Ｐゴシック</vt:lpstr>
      <vt:lpstr>Arial</vt:lpstr>
      <vt:lpstr>Calibri</vt:lpstr>
      <vt:lpstr>Times New Roman</vt:lpstr>
      <vt:lpstr>TradeGothic</vt:lpstr>
      <vt:lpstr>Office Theme</vt:lpstr>
      <vt:lpstr>NIRMAN LAB-SEC2-73 (SH26)</vt:lpstr>
      <vt:lpstr>PM-JAY AwaajSahayak</vt:lpstr>
      <vt:lpstr>TECHNICAL APPROACH</vt:lpstr>
      <vt:lpstr>FEASIBILITY AND VIABILITY</vt:lpstr>
      <vt:lpstr>IMPACT AND BENEFITS</vt:lpstr>
      <vt:lpstr>RESEARCH  AND REFERENCES</vt:lpstr>
      <vt:lpstr>SURVEY FINDINGS </vt:lpstr>
      <vt:lpstr>Problem Context</vt:lpstr>
      <vt:lpstr>Barriers to Access</vt:lpstr>
      <vt:lpstr>Target Users</vt:lpstr>
      <vt:lpstr>How It Works</vt:lpstr>
      <vt:lpstr>Current vs Proposed Process</vt:lpstr>
      <vt:lpstr>Prototype &amp; Demo</vt:lpstr>
      <vt:lpstr>Why Voice-Based Approach Works</vt:lpstr>
      <vt:lpstr>Conclusion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Aditya Mhatre</cp:lastModifiedBy>
  <cp:revision>155</cp:revision>
  <dcterms:created xsi:type="dcterms:W3CDTF">2013-12-12T18:46:50Z</dcterms:created>
  <dcterms:modified xsi:type="dcterms:W3CDTF">2026-10-09T11:05:03Z</dcterms:modified>
  <cp:category/>
</cp:coreProperties>
</file>